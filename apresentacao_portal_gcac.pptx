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1506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8286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457200" y="4114800"/>
            <a:ext cx="6858000" cy="1828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4206240"/>
            <a:ext cx="4114800" cy="914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6459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</a:rPr>
              <a:t>PLATAFORMA DE GESTÃO E PRODUTIVIDADE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01168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8FAFC"/>
                </a:solidFill>
              </a:rPr>
              <a:t>PORTAL GCAC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457200" y="30175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BD5E1"/>
                </a:solidFill>
              </a:rPr>
              <a:t>A solução digital definitiva para Despachantes Bélicos, Atiradores, Colecionadores e Caçadores.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45720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4A3B8"/>
                </a:solidFill>
              </a:rPr>
              <a:t>RECURSOS: O.S. | ACERVO DIGITAL | FINANCEIRO | ALERTAS WHATSAPP | INTEGRACAO B2C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60350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Apresentação Comercial &amp; Manual de Funcionalidades  •  Versão 1.0.5  •  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</a:rPr>
              <a:t>VISÃO DE MERCADO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8FAFC"/>
                </a:solidFill>
              </a:rPr>
              <a:t>Dores do Despachante &amp; Solução GCAC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 flipV="1">
            <a:off x="124822" y="1081316"/>
            <a:ext cx="8438607" cy="45719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4822" y="1267097"/>
            <a:ext cx="3910149" cy="3589020"/>
          </a:xfrm>
          <a:prstGeom prst="rect">
            <a:avLst/>
          </a:prstGeom>
          <a:solidFill>
            <a:srgbClr val="141A28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2711" y="1455783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</a:rPr>
              <a:t>Cenário Atual: As Dores do Negócio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82880" y="1931670"/>
            <a:ext cx="3794034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F4444"/>
                </a:solidFill>
              </a:rPr>
              <a:t>• Burocracia Manual: </a:t>
            </a:r>
            <a:r>
              <a:rPr lang="en-US" sz="1150" dirty="0">
                <a:solidFill>
                  <a:srgbClr val="CBD5E1"/>
                </a:solidFill>
              </a:rPr>
              <a:t>Processo lento de digitação e redigitação de informações cadastrais e de acervos.
</a:t>
            </a:r>
            <a:r>
              <a:rPr lang="en-US" sz="1200" b="1" dirty="0">
                <a:solidFill>
                  <a:srgbClr val="EF4444"/>
                </a:solidFill>
              </a:rPr>
              <a:t>• WhatsApp Caótico: </a:t>
            </a:r>
            <a:r>
              <a:rPr lang="en-US" sz="1150" dirty="0">
                <a:solidFill>
                  <a:srgbClr val="CBD5E1"/>
                </a:solidFill>
              </a:rPr>
              <a:t>Troca manual de fotos de documentos, PDFs e comprovantes que se perdem no histórico.
</a:t>
            </a:r>
            <a:r>
              <a:rPr lang="en-US" sz="1200" b="1" dirty="0">
                <a:solidFill>
                  <a:srgbClr val="EF4444"/>
                </a:solidFill>
              </a:rPr>
              <a:t>• Perda de Prazos: </a:t>
            </a:r>
            <a:r>
              <a:rPr lang="en-US" sz="1150" dirty="0">
                <a:solidFill>
                  <a:srgbClr val="CBD5E1"/>
                </a:solidFill>
              </a:rPr>
              <a:t>Risco elevado de expiração de documentos importantes (CR, CRAF, GT) de clientes.
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72860" y="1267097"/>
            <a:ext cx="4390569" cy="3602083"/>
          </a:xfrm>
          <a:prstGeom prst="rect">
            <a:avLst/>
          </a:prstGeom>
          <a:solidFill>
            <a:srgbClr val="141A28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67798" y="1414381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C55E"/>
                </a:solidFill>
              </a:rPr>
              <a:t>Com o GCAC: A Solução Definitiva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187952" y="1931670"/>
            <a:ext cx="4172277" cy="29375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2C55E"/>
                </a:solidFill>
              </a:rPr>
              <a:t>• Ficha Automática: </a:t>
            </a:r>
            <a:r>
              <a:rPr lang="en-US" sz="1150" dirty="0">
                <a:solidFill>
                  <a:srgbClr val="CBD5E1"/>
                </a:solidFill>
              </a:rPr>
              <a:t>O próprio cliente (B2C) acessa e edita seu cadastro, eliminando digitação manual.
</a:t>
            </a:r>
            <a:r>
              <a:rPr lang="en-US" sz="1200" b="1" dirty="0">
                <a:solidFill>
                  <a:srgbClr val="22C55E"/>
                </a:solidFill>
              </a:rPr>
              <a:t>• Acervo Digital: </a:t>
            </a:r>
            <a:r>
              <a:rPr lang="en-US" sz="1150" dirty="0">
                <a:solidFill>
                  <a:srgbClr val="CBD5E1"/>
                </a:solidFill>
              </a:rPr>
              <a:t>Documentação centralizada de armas, CR, CRAF, GT e IBAMA com arquivos anexos.
</a:t>
            </a:r>
            <a:r>
              <a:rPr lang="en-US" sz="1200" b="1" dirty="0">
                <a:solidFill>
                  <a:srgbClr val="22C55E"/>
                </a:solidFill>
              </a:rPr>
              <a:t>• Alertas Inteligentes: </a:t>
            </a:r>
            <a:r>
              <a:rPr lang="en-US" sz="1150" dirty="0">
                <a:solidFill>
                  <a:srgbClr val="CBD5E1"/>
                </a:solidFill>
              </a:rPr>
              <a:t>Notificações coloridas automáticas no painel sobre vencimentos próximos.
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6126480"/>
            <a:ext cx="11274552" cy="1828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6217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Portal GCAC — Solução para Atiradores, Colecionadores, Caçadores e Despachantes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</a:rPr>
              <a:t>COCKPIT CENTRAL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8FAFC"/>
                </a:solidFill>
              </a:rPr>
              <a:t>Painel Operacional (Dashboard)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1274552" cy="1828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59E0B"/>
                </a:solidFill>
              </a:rPr>
              <a:t>• Métricas Dinâmicas: </a:t>
            </a:r>
            <a:r>
              <a:rPr lang="en-US" sz="1200" dirty="0">
                <a:solidFill>
                  <a:srgbClr val="CBD5E1"/>
                </a:solidFill>
              </a:rPr>
              <a:t>Acompanhamento do total de Ordens de Serviço (OS) ativas, concluídas no mês e faturamento consolidado.
</a:t>
            </a:r>
            <a:r>
              <a:rPr lang="en-US" sz="1300" b="1" dirty="0">
                <a:solidFill>
                  <a:srgbClr val="F59E0B"/>
                </a:solidFill>
              </a:rPr>
              <a:t>• Atenção Diária: </a:t>
            </a:r>
            <a:r>
              <a:rPr lang="en-US" sz="1200" dirty="0">
                <a:solidFill>
                  <a:srgbClr val="CBD5E1"/>
                </a:solidFill>
              </a:rPr>
              <a:t>Fluxo de tarefas rápidas e lembretes integrados para o despachante gerenciar o dia a dia da equipe.
</a:t>
            </a:r>
            <a:r>
              <a:rPr lang="en-US" sz="1300" b="1" dirty="0">
                <a:solidFill>
                  <a:srgbClr val="F59E0B"/>
                </a:solidFill>
              </a:rPr>
              <a:t>• Monitoramento Ativo: </a:t>
            </a:r>
            <a:r>
              <a:rPr lang="en-US" sz="1200" dirty="0">
                <a:solidFill>
                  <a:srgbClr val="CBD5E1"/>
                </a:solidFill>
              </a:rPr>
              <a:t>Avisos visuais imediatos sobre processos parados ou documentos prestes a expirar.
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852160" y="1554480"/>
            <a:ext cx="5852160" cy="3474720"/>
          </a:xfrm>
          <a:prstGeom prst="rect">
            <a:avLst/>
          </a:prstGeom>
          <a:solidFill>
            <a:srgbClr val="141A28"/>
          </a:solidFill>
          <a:ln w="12700">
            <a:solidFill>
              <a:srgbClr val="1E293B"/>
            </a:solidFill>
            <a:prstDash val="solid"/>
          </a:ln>
        </p:spPr>
      </p:sp>
      <p:pic>
        <p:nvPicPr>
          <p:cNvPr id="7" name="Image 0" descr="C:\Users\Guilherme Gomes\.gemini\antigravity\brain\392f0286-5b76-4ec8-ac1d-7de16ea0eefa\media__17803195599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645920"/>
            <a:ext cx="5669280" cy="3291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6126480"/>
            <a:ext cx="11274552" cy="1828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6217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Portal GCAC — Solução para Atiradores, Colecionadores, Caçadores e Despachantes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</a:rPr>
              <a:t>GESTÃO MULTITENANT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8FAFC"/>
                </a:solidFill>
              </a:rPr>
              <a:t>Empresas &amp; Clientes Contratantes (B2B)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1274552" cy="1828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59E0B"/>
                </a:solidFill>
              </a:rPr>
              <a:t>• Painel Corporativo: </a:t>
            </a:r>
            <a:r>
              <a:rPr lang="en-US" sz="1200" dirty="0">
                <a:solidFill>
                  <a:srgbClr val="CBD5E1"/>
                </a:solidFill>
              </a:rPr>
              <a:t>Grade completa de empresas e despachantes licenciados utilizando o portal.
</a:t>
            </a:r>
            <a:r>
              <a:rPr lang="en-US" sz="1300" b="1" dirty="0">
                <a:solidFill>
                  <a:srgbClr val="F59E0B"/>
                </a:solidFill>
              </a:rPr>
              <a:t>• Informações Unificadas: </a:t>
            </a:r>
            <a:r>
              <a:rPr lang="en-US" sz="1200" dirty="0">
                <a:solidFill>
                  <a:srgbClr val="CBD5E1"/>
                </a:solidFill>
              </a:rPr>
              <a:t>CNPJ/CPF, e-mail de contato do responsável, telefone e número total de colaboradores.
</a:t>
            </a:r>
            <a:r>
              <a:rPr lang="en-US" sz="1300" b="1" dirty="0">
                <a:solidFill>
                  <a:srgbClr val="F59E0B"/>
                </a:solidFill>
              </a:rPr>
              <a:t>• Foco em Performance: </a:t>
            </a:r>
            <a:r>
              <a:rPr lang="en-US" sz="1200" dirty="0">
                <a:solidFill>
                  <a:srgbClr val="CBD5E1"/>
                </a:solidFill>
              </a:rPr>
              <a:t>Nova tabela expandida de alta performance, eliminando rolagem horizontal e garantindo leitura rápida.
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852160" y="1554480"/>
            <a:ext cx="5852160" cy="3474720"/>
          </a:xfrm>
          <a:prstGeom prst="rect">
            <a:avLst/>
          </a:prstGeom>
          <a:solidFill>
            <a:srgbClr val="141A28"/>
          </a:solidFill>
          <a:ln w="12700">
            <a:solidFill>
              <a:srgbClr val="1E293B"/>
            </a:solidFill>
            <a:prstDash val="solid"/>
          </a:ln>
        </p:spPr>
      </p:sp>
      <p:pic>
        <p:nvPicPr>
          <p:cNvPr id="7" name="Image 0" descr="C:\Users\Guilherme Gomes\.gemini\antigravity\brain\392f0286-5b76-4ec8-ac1d-7de16ea0eefa\media__178032262279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645920"/>
            <a:ext cx="5669280" cy="3291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6126480"/>
            <a:ext cx="11274552" cy="1828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6217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Portal GCAC — Solução para Atiradores, Colecionadores, Caçadores e Despachantes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</a:rPr>
              <a:t>PAINEL SUPER ADMIN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8FAFC"/>
                </a:solidFill>
              </a:rPr>
              <a:t>Faturamento &amp; Gestão de Licenças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563356" cy="685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2834641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59E0B"/>
                </a:solidFill>
              </a:rPr>
              <a:t>• Métricas Financeiras (MRR): </a:t>
            </a:r>
            <a:r>
              <a:rPr lang="en-US" sz="1200" dirty="0">
                <a:solidFill>
                  <a:srgbClr val="CBD5E1"/>
                </a:solidFill>
              </a:rPr>
              <a:t>Acompanhamento do Faturamento Mensal Recorrente com base nas assinaturas ativas.
</a:t>
            </a:r>
            <a:r>
              <a:rPr lang="en-US" sz="1300" b="1" dirty="0">
                <a:solidFill>
                  <a:srgbClr val="F59E0B"/>
                </a:solidFill>
              </a:rPr>
              <a:t>• Calibres de Assinatura: </a:t>
            </a:r>
            <a:r>
              <a:rPr lang="en-US" sz="1200" dirty="0">
                <a:solidFill>
                  <a:srgbClr val="CBD5E1"/>
                </a:solidFill>
              </a:rPr>
              <a:t>Planos de contratação comercial baseados em calibres (.22LR, .357mag e .308win) com limites.
</a:t>
            </a:r>
            <a:r>
              <a:rPr lang="en-US" sz="1300" b="1" dirty="0">
                <a:solidFill>
                  <a:srgbClr val="F59E0B"/>
                </a:solidFill>
              </a:rPr>
              <a:t>• Exceções Comerciais: </a:t>
            </a:r>
            <a:r>
              <a:rPr lang="en-US" sz="1200" dirty="0">
                <a:solidFill>
                  <a:srgbClr val="CBD5E1"/>
                </a:solidFill>
              </a:rPr>
              <a:t>Flexibilidade para aplicar valores personalizados ou marcar contas de cortesia (isentas).
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168396" y="1394460"/>
            <a:ext cx="5852160" cy="3474720"/>
          </a:xfrm>
          <a:prstGeom prst="rect">
            <a:avLst/>
          </a:prstGeom>
          <a:solidFill>
            <a:srgbClr val="141A28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6126480"/>
            <a:ext cx="11274552" cy="1828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6217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Portal GCAC — Solução para Atiradores, Colecionadores, Caçadores e Despachantes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</a:rPr>
              <a:t>FINANCEIRO &amp; COBRANÇA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8FAFC"/>
                </a:solidFill>
              </a:rPr>
              <a:t>Registro de Pagamentos e Histórico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59E0B"/>
                </a:solidFill>
              </a:rPr>
              <a:t>• Avanço de Vencimento: </a:t>
            </a:r>
            <a:r>
              <a:rPr lang="en-US" sz="1200" dirty="0">
                <a:solidFill>
                  <a:srgbClr val="CBD5E1"/>
                </a:solidFill>
              </a:rPr>
              <a:t>Baixa de faturas com cálculo automático do próximo vencimento (+1, +6 ou +12 meses).
</a:t>
            </a:r>
            <a:r>
              <a:rPr lang="en-US" sz="1300" b="1" dirty="0">
                <a:solidFill>
                  <a:srgbClr val="F59E0B"/>
                </a:solidFill>
              </a:rPr>
              <a:t>• Cálculo Inteligente: </a:t>
            </a:r>
            <a:r>
              <a:rPr lang="en-US" sz="1200" dirty="0">
                <a:solidFill>
                  <a:srgbClr val="CBD5E1"/>
                </a:solidFill>
              </a:rPr>
              <a:t>Se expirado, calcula a partir de hoje; se em dia, soma a partir da data de vencimento futura.
</a:t>
            </a:r>
            <a:r>
              <a:rPr lang="en-US" sz="1300" b="1" dirty="0">
                <a:solidFill>
                  <a:srgbClr val="F59E0B"/>
                </a:solidFill>
              </a:rPr>
              <a:t>• Histórico Completo: </a:t>
            </a:r>
            <a:r>
              <a:rPr lang="en-US" sz="1200" dirty="0">
                <a:solidFill>
                  <a:srgbClr val="CBD5E1"/>
                </a:solidFill>
              </a:rPr>
              <a:t>Registro das faturas pagas informando o valor cobrado, meio de pagamento (Pix, boleto, etc.) e observações.
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852160" y="1554480"/>
            <a:ext cx="5852160" cy="3474720"/>
          </a:xfrm>
          <a:prstGeom prst="rect">
            <a:avLst/>
          </a:prstGeom>
          <a:solidFill>
            <a:srgbClr val="141A28"/>
          </a:solidFill>
          <a:ln w="12700">
            <a:solidFill>
              <a:srgbClr val="1E293B"/>
            </a:solidFill>
            <a:prstDash val="solid"/>
          </a:ln>
        </p:spPr>
      </p:sp>
      <p:pic>
        <p:nvPicPr>
          <p:cNvPr id="7" name="Image 0" descr="C:\Users\Guilherme Gomes\.gemini\antigravity\brain\392f0286-5b76-4ec8-ac1d-7de16ea0eefa\media__17803322775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645920"/>
            <a:ext cx="5669280" cy="3291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6126480"/>
            <a:ext cx="11274552" cy="1828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6217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Portal GCAC — Solução para Atiradores, Colecionadores, Caçadores e Despachantes</a:t>
            </a:r>
            <a:endParaRPr lang="en-US" sz="900" dirty="0"/>
          </a:p>
        </p:txBody>
      </p:sp>
      <p:sp>
        <p:nvSpPr>
          <p:cNvPr id="10" name="Shape 2">
            <a:extLst>
              <a:ext uri="{FF2B5EF4-FFF2-40B4-BE49-F238E27FC236}">
                <a16:creationId xmlns:a16="http://schemas.microsoft.com/office/drawing/2014/main" id="{4C0D6419-878A-40E4-B746-40FB809BBCB9}"/>
              </a:ext>
            </a:extLst>
          </p:cNvPr>
          <p:cNvSpPr/>
          <p:nvPr/>
        </p:nvSpPr>
        <p:spPr>
          <a:xfrm>
            <a:off x="457200" y="1097280"/>
            <a:ext cx="8563356" cy="685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</a:rPr>
              <a:t>SEGURANÇA &amp; ADIMPLÊNCIA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8FAFC"/>
                </a:solidFill>
              </a:rPr>
              <a:t>Bloqueio de Acesso por Inadimplência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59E0B"/>
                </a:solidFill>
              </a:rPr>
              <a:t>• Enforcamento Inteligente: </a:t>
            </a:r>
            <a:r>
              <a:rPr lang="en-US" sz="1200" dirty="0">
                <a:solidFill>
                  <a:srgbClr val="CBD5E1"/>
                </a:solidFill>
              </a:rPr>
              <a:t>Usuários de empresas suspensas ou vencidas são direcionados automaticamente para a tela de bloqueio.
</a:t>
            </a:r>
            <a:r>
              <a:rPr lang="en-US" sz="1300" b="1" dirty="0">
                <a:solidFill>
                  <a:srgbClr val="F59E0B"/>
                </a:solidFill>
              </a:rPr>
              <a:t>• Aparência Glassmorphism: </a:t>
            </a:r>
            <a:r>
              <a:rPr lang="en-US" sz="1200" dirty="0">
                <a:solidFill>
                  <a:srgbClr val="CBD5E1"/>
                </a:solidFill>
              </a:rPr>
              <a:t>Design moderno com fundo desfocado informando o nome da empresa e o status da assinatura.
</a:t>
            </a:r>
            <a:r>
              <a:rPr lang="en-US" sz="1300" b="1" dirty="0">
                <a:solidFill>
                  <a:srgbClr val="F59E0B"/>
                </a:solidFill>
              </a:rPr>
              <a:t>• Canal de Suporte Rápido: </a:t>
            </a:r>
            <a:r>
              <a:rPr lang="en-US" sz="1200" dirty="0">
                <a:solidFill>
                  <a:srgbClr val="CBD5E1"/>
                </a:solidFill>
              </a:rPr>
              <a:t>Botão de clique rápido que direciona o usuário para o WhatsApp comercial com mensagem pronta.
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852160" y="1554480"/>
            <a:ext cx="5852160" cy="3474720"/>
          </a:xfrm>
          <a:prstGeom prst="rect">
            <a:avLst/>
          </a:prstGeom>
          <a:solidFill>
            <a:srgbClr val="141A28"/>
          </a:solidFill>
          <a:ln w="12700">
            <a:solidFill>
              <a:srgbClr val="1E293B"/>
            </a:solidFill>
            <a:prstDash val="solid"/>
          </a:ln>
        </p:spPr>
      </p:sp>
      <p:pic>
        <p:nvPicPr>
          <p:cNvPr id="7" name="Image 0" descr="C:\Users\Guilherme Gomes\.gemini\antigravity\brain\392f0286-5b76-4ec8-ac1d-7de16ea0eefa\media__17803338994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645920"/>
            <a:ext cx="5669280" cy="3291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6126480"/>
            <a:ext cx="11274552" cy="1828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6217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Portal GCAC — Solução para Atiradores, Colecionadores, Caçadores e Despachantes</a:t>
            </a:r>
            <a:endParaRPr lang="en-US" sz="900" dirty="0"/>
          </a:p>
        </p:txBody>
      </p:sp>
      <p:sp>
        <p:nvSpPr>
          <p:cNvPr id="11" name="Shape 2">
            <a:extLst>
              <a:ext uri="{FF2B5EF4-FFF2-40B4-BE49-F238E27FC236}">
                <a16:creationId xmlns:a16="http://schemas.microsoft.com/office/drawing/2014/main" id="{B1D08A82-1066-4560-A6C1-52C1FAF213E6}"/>
              </a:ext>
            </a:extLst>
          </p:cNvPr>
          <p:cNvSpPr/>
          <p:nvPr/>
        </p:nvSpPr>
        <p:spPr>
          <a:xfrm>
            <a:off x="457200" y="1097280"/>
            <a:ext cx="8563356" cy="685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</a:rPr>
              <a:t>EXPERIÊNCIA DO USUÁRIO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8FAFC"/>
                </a:solidFill>
              </a:rPr>
              <a:t>Alertas Preventivos de Assinatura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59E0B"/>
                </a:solidFill>
              </a:rPr>
              <a:t>• Banner Informativo: </a:t>
            </a:r>
            <a:r>
              <a:rPr lang="en-US" sz="1200" dirty="0">
                <a:solidFill>
                  <a:srgbClr val="CBD5E1"/>
                </a:solidFill>
              </a:rPr>
              <a:t>Aviso visual no topo do cabeçalho da plataforma exibido automaticamente a partir de 5 dias antes do vencimento.
</a:t>
            </a:r>
            <a:r>
              <a:rPr lang="en-US" sz="1300" b="1" dirty="0">
                <a:solidFill>
                  <a:srgbClr val="F59E0B"/>
                </a:solidFill>
              </a:rPr>
              <a:t>• Luz de Alerta Pulsante: </a:t>
            </a:r>
            <a:r>
              <a:rPr lang="en-US" sz="1200" dirty="0">
                <a:solidFill>
                  <a:srgbClr val="CBD5E1"/>
                </a:solidFill>
              </a:rPr>
              <a:t>Ícone animado (pinging beacon) para chamar a atenção sobre a proximidade do prazo de renovação.
</a:t>
            </a:r>
            <a:r>
              <a:rPr lang="en-US" sz="1300" b="1" dirty="0">
                <a:solidFill>
                  <a:srgbClr val="F59E0B"/>
                </a:solidFill>
              </a:rPr>
              <a:t>• Sem Interrupções: </a:t>
            </a:r>
            <a:r>
              <a:rPr lang="en-US" sz="1200" dirty="0">
                <a:solidFill>
                  <a:srgbClr val="CBD5E1"/>
                </a:solidFill>
              </a:rPr>
              <a:t>O alerta avisa sem impedir o uso operacional do portal, permitindo o pagamento tranquilo.
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852160" y="1554480"/>
            <a:ext cx="5852160" cy="3474720"/>
          </a:xfrm>
          <a:prstGeom prst="rect">
            <a:avLst/>
          </a:prstGeom>
          <a:solidFill>
            <a:srgbClr val="141A28"/>
          </a:solidFill>
          <a:ln w="12700">
            <a:solidFill>
              <a:srgbClr val="1E293B"/>
            </a:solidFill>
            <a:prstDash val="solid"/>
          </a:ln>
        </p:spPr>
      </p:sp>
      <p:pic>
        <p:nvPicPr>
          <p:cNvPr id="7" name="Image 0" descr="C:\Users\Guilherme Gomes\.gemini\antigravity\brain\392f0286-5b76-4ec8-ac1d-7de16ea0eefa\media__17803353496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645920"/>
            <a:ext cx="5669280" cy="3291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6126480"/>
            <a:ext cx="11274552" cy="1828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6217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Portal GCAC — Solução para Atiradores, Colecionadores, Caçadores e Despachantes</a:t>
            </a:r>
            <a:endParaRPr lang="en-US" sz="900" dirty="0"/>
          </a:p>
        </p:txBody>
      </p:sp>
      <p:sp>
        <p:nvSpPr>
          <p:cNvPr id="10" name="Shape 2">
            <a:extLst>
              <a:ext uri="{FF2B5EF4-FFF2-40B4-BE49-F238E27FC236}">
                <a16:creationId xmlns:a16="http://schemas.microsoft.com/office/drawing/2014/main" id="{A5D5F808-D77C-4505-A335-8B7A9564AF08}"/>
              </a:ext>
            </a:extLst>
          </p:cNvPr>
          <p:cNvSpPr/>
          <p:nvPr/>
        </p:nvSpPr>
        <p:spPr>
          <a:xfrm>
            <a:off x="457200" y="1097280"/>
            <a:ext cx="8563356" cy="685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</a:rPr>
              <a:t>GESTÃO COMERCIAL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8FAFC"/>
                </a:solidFill>
              </a:rPr>
              <a:t>Controle e Limites de Equipe (Staff)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59E0B"/>
                </a:solidFill>
              </a:rPr>
              <a:t>• Limitação por Calibre: </a:t>
            </a:r>
            <a:r>
              <a:rPr lang="en-US" sz="1200" dirty="0">
                <a:solidFill>
                  <a:srgbClr val="CBD5E1"/>
                </a:solidFill>
              </a:rPr>
              <a:t>O sistema valida a quantidade de colaboradores ativos cadastrados contra o limite do plano.
</a:t>
            </a:r>
            <a:r>
              <a:rPr lang="en-US" sz="1300" b="1" dirty="0">
                <a:solidFill>
                  <a:srgbClr val="F59E0B"/>
                </a:solidFill>
              </a:rPr>
              <a:t>• Aviso de Bloqueio: </a:t>
            </a:r>
            <a:r>
              <a:rPr lang="en-US" sz="1200" dirty="0">
                <a:solidFill>
                  <a:srgbClr val="CBD5E1"/>
                </a:solidFill>
              </a:rPr>
              <a:t>Ao tentar exceder o limite, um pop-up elegante impede o cadastro e avisa que o limite de staff foi atingido.
</a:t>
            </a:r>
            <a:r>
              <a:rPr lang="en-US" sz="1300" b="1" dirty="0">
                <a:solidFill>
                  <a:srgbClr val="F59E0B"/>
                </a:solidFill>
              </a:rPr>
              <a:t>• Incentivo ao Upgrade: </a:t>
            </a:r>
            <a:r>
              <a:rPr lang="en-US" sz="1200" dirty="0">
                <a:solidFill>
                  <a:srgbClr val="CBD5E1"/>
                </a:solidFill>
              </a:rPr>
              <a:t>Orienta o usuário a fazer upgrade do plano para obter mais acessos (ex: de .22LR para .357mag).
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852160" y="1554480"/>
            <a:ext cx="5852160" cy="3474720"/>
          </a:xfrm>
          <a:prstGeom prst="rect">
            <a:avLst/>
          </a:prstGeom>
          <a:solidFill>
            <a:srgbClr val="141A28"/>
          </a:solidFill>
          <a:ln w="12700">
            <a:solidFill>
              <a:srgbClr val="1E293B"/>
            </a:solidFill>
            <a:prstDash val="solid"/>
          </a:ln>
        </p:spPr>
      </p:sp>
      <p:pic>
        <p:nvPicPr>
          <p:cNvPr id="7" name="Image 0" descr="C:\Users\Guilherme Gomes\.gemini\antigravity\brain\392f0286-5b76-4ec8-ac1d-7de16ea0eefa\media__17803354152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645920"/>
            <a:ext cx="5669280" cy="3291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6126480"/>
            <a:ext cx="11274552" cy="1828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6217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Portal GCAC — Solução para Atiradores, Colecionadores, Caçadores e Despachantes</a:t>
            </a:r>
            <a:endParaRPr lang="en-US" sz="900" dirty="0"/>
          </a:p>
        </p:txBody>
      </p:sp>
      <p:sp>
        <p:nvSpPr>
          <p:cNvPr id="10" name="Shape 2">
            <a:extLst>
              <a:ext uri="{FF2B5EF4-FFF2-40B4-BE49-F238E27FC236}">
                <a16:creationId xmlns:a16="http://schemas.microsoft.com/office/drawing/2014/main" id="{6DE236F2-B3AE-42FE-9AAA-8462E1B693DA}"/>
              </a:ext>
            </a:extLst>
          </p:cNvPr>
          <p:cNvSpPr/>
          <p:nvPr/>
        </p:nvSpPr>
        <p:spPr>
          <a:xfrm>
            <a:off x="457200" y="1097280"/>
            <a:ext cx="8563356" cy="685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</a:rPr>
              <a:t>O GRANDE DIFERENCIAL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8FAFC"/>
                </a:solidFill>
              </a:rPr>
              <a:t>Gerenciador de Acervo e Vínculo CAC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59E0B"/>
                </a:solidFill>
              </a:rPr>
              <a:t>• Conexão Direta B2C: </a:t>
            </a:r>
            <a:r>
              <a:rPr lang="en-US" sz="1200" dirty="0">
                <a:solidFill>
                  <a:srgbClr val="CBD5E1"/>
                </a:solidFill>
              </a:rPr>
              <a:t>Vínculo do despachante diretamente com a conta do atirador, reduzindo troca manual de fotos.
</a:t>
            </a:r>
            <a:r>
              <a:rPr lang="en-US" sz="1300" b="1" dirty="0">
                <a:solidFill>
                  <a:srgbClr val="F59E0B"/>
                </a:solidFill>
              </a:rPr>
              <a:t>• Validação de CR: </a:t>
            </a:r>
            <a:r>
              <a:rPr lang="en-US" sz="1200" dirty="0">
                <a:solidFill>
                  <a:srgbClr val="CBD5E1"/>
                </a:solidFill>
              </a:rPr>
              <a:t>Monitoramento digital de CR Exército e IBAMA com marcadores de cor para status ativo, vencido ou vencendo.
</a:t>
            </a:r>
            <a:r>
              <a:rPr lang="en-US" sz="1300" b="1" dirty="0">
                <a:solidFill>
                  <a:srgbClr val="F59E0B"/>
                </a:solidFill>
              </a:rPr>
              <a:t>• Armas e Documentos: </a:t>
            </a:r>
            <a:r>
              <a:rPr lang="en-US" sz="1200" dirty="0">
                <a:solidFill>
                  <a:srgbClr val="CBD5E1"/>
                </a:solidFill>
              </a:rPr>
              <a:t>Ficha completa com Série, Sigma, Calibre, Validade do CRAF e anexos de documentos e GTs.
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852160" y="1554480"/>
            <a:ext cx="5852160" cy="3474720"/>
          </a:xfrm>
          <a:prstGeom prst="rect">
            <a:avLst/>
          </a:prstGeom>
          <a:solidFill>
            <a:srgbClr val="141A28"/>
          </a:solidFill>
          <a:ln w="12700">
            <a:solidFill>
              <a:srgbClr val="1E293B"/>
            </a:solidFill>
            <a:prstDash val="solid"/>
          </a:ln>
        </p:spPr>
      </p:sp>
      <p:pic>
        <p:nvPicPr>
          <p:cNvPr id="7" name="Image 0" descr="C:\Users\Guilherme Gomes\.gemini\antigravity\brain\392f0286-5b76-4ec8-ac1d-7de16ea0eefa\media__17803223897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645920"/>
            <a:ext cx="5669280" cy="3291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6126480"/>
            <a:ext cx="11274552" cy="1828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6217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Portal GCAC — Solução para Atiradores, Colecionadores, Caçadores e Despachantes</a:t>
            </a:r>
            <a:endParaRPr lang="en-US" sz="900" dirty="0"/>
          </a:p>
        </p:txBody>
      </p:sp>
      <p:sp>
        <p:nvSpPr>
          <p:cNvPr id="10" name="Shape 2">
            <a:extLst>
              <a:ext uri="{FF2B5EF4-FFF2-40B4-BE49-F238E27FC236}">
                <a16:creationId xmlns:a16="http://schemas.microsoft.com/office/drawing/2014/main" id="{24D10CD9-6CE8-4635-A33D-A1E253EFC3CF}"/>
              </a:ext>
            </a:extLst>
          </p:cNvPr>
          <p:cNvSpPr/>
          <p:nvPr/>
        </p:nvSpPr>
        <p:spPr>
          <a:xfrm>
            <a:off x="457200" y="1097280"/>
            <a:ext cx="8563356" cy="685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</a:rPr>
              <a:t>DESIGN FLUIDO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8FAFC"/>
                </a:solidFill>
              </a:rPr>
              <a:t>Layout Otimizado para Alta Performance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59E0B"/>
                </a:solidFill>
              </a:rPr>
              <a:t>• Fim do Scroll Lateral: </a:t>
            </a:r>
            <a:r>
              <a:rPr lang="en-US" sz="1200" dirty="0">
                <a:solidFill>
                  <a:srgbClr val="CBD5E1"/>
                </a:solidFill>
              </a:rPr>
              <a:t>Estrutura de dados totalmente visível na tela sem a necessidade de barra de rolagem horizontal.
</a:t>
            </a:r>
            <a:r>
              <a:rPr lang="en-US" sz="1300" b="1" dirty="0">
                <a:solidFill>
                  <a:srgbClr val="F59E0B"/>
                </a:solidFill>
              </a:rPr>
              <a:t>• Espaçamento Inteligente: </a:t>
            </a:r>
            <a:r>
              <a:rPr lang="en-US" sz="1200" dirty="0">
                <a:solidFill>
                  <a:srgbClr val="CBD5E1"/>
                </a:solidFill>
              </a:rPr>
              <a:t>Design fluido utilizando wrappers flexíveis (max-w-6xl) para tabelas robustas no computador.
</a:t>
            </a:r>
            <a:r>
              <a:rPr lang="en-US" sz="1300" b="1" dirty="0">
                <a:solidFill>
                  <a:srgbClr val="F59E0B"/>
                </a:solidFill>
              </a:rPr>
              <a:t>• Controle Persistente: </a:t>
            </a:r>
            <a:r>
              <a:rPr lang="en-US" sz="1200" dirty="0">
                <a:solidFill>
                  <a:srgbClr val="CBD5E1"/>
                </a:solidFill>
              </a:rPr>
              <a:t>Correção do loop de estado ao marcar/desmarcar checkboxes de permissões no portal B2B.
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852160" y="1554480"/>
            <a:ext cx="5852160" cy="3474720"/>
          </a:xfrm>
          <a:prstGeom prst="rect">
            <a:avLst/>
          </a:prstGeom>
          <a:solidFill>
            <a:srgbClr val="141A28"/>
          </a:solidFill>
          <a:ln w="12700">
            <a:solidFill>
              <a:srgbClr val="1E293B"/>
            </a:solidFill>
            <a:prstDash val="solid"/>
          </a:ln>
        </p:spPr>
      </p:sp>
      <p:pic>
        <p:nvPicPr>
          <p:cNvPr id="7" name="Image 0" descr="C:\Users\Guilherme Gomes\.gemini\antigravity\brain\392f0286-5b76-4ec8-ac1d-7de16ea0eefa\media__178032251799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645920"/>
            <a:ext cx="5669280" cy="3291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6126480"/>
            <a:ext cx="11274552" cy="1828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6217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Portal GCAC — Solução para Atiradores, Colecionadores, Caçadores e Despachantes</a:t>
            </a:r>
            <a:endParaRPr lang="en-US" sz="900" dirty="0"/>
          </a:p>
        </p:txBody>
      </p:sp>
      <p:sp>
        <p:nvSpPr>
          <p:cNvPr id="10" name="Shape 2">
            <a:extLst>
              <a:ext uri="{FF2B5EF4-FFF2-40B4-BE49-F238E27FC236}">
                <a16:creationId xmlns:a16="http://schemas.microsoft.com/office/drawing/2014/main" id="{C5BF3A5C-3086-4119-A8D5-6D85AB56BD14}"/>
              </a:ext>
            </a:extLst>
          </p:cNvPr>
          <p:cNvSpPr/>
          <p:nvPr/>
        </p:nvSpPr>
        <p:spPr>
          <a:xfrm>
            <a:off x="457200" y="1097280"/>
            <a:ext cx="8563356" cy="685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</a:rPr>
              <a:t>RESILIÊNCIA TÉCNICA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8FAFC"/>
                </a:solidFill>
              </a:rPr>
              <a:t>Modo Offline-first &amp; Backup Automático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59E0B"/>
                </a:solidFill>
              </a:rPr>
              <a:t>• Suporte Offline: </a:t>
            </a:r>
            <a:r>
              <a:rPr lang="en-US" sz="1200" dirty="0">
                <a:solidFill>
                  <a:srgbClr val="CBD5E1"/>
                </a:solidFill>
              </a:rPr>
              <a:t>Operação contínua local no IndexedDB (Dexie.js) mesmo em caso de queda de internet.
</a:t>
            </a:r>
            <a:r>
              <a:rPr lang="en-US" sz="1300" b="1" dirty="0">
                <a:solidFill>
                  <a:srgbClr val="F59E0B"/>
                </a:solidFill>
              </a:rPr>
              <a:t>• Fila de Sincronização: </a:t>
            </a:r>
            <a:r>
              <a:rPr lang="en-US" sz="1200" dirty="0">
                <a:solidFill>
                  <a:srgbClr val="CBD5E1"/>
                </a:solidFill>
              </a:rPr>
              <a:t>As alterações feitas locais são transmitidas ao Supabase assim que a internet retorna.
</a:t>
            </a:r>
            <a:r>
              <a:rPr lang="en-US" sz="1300" b="1" dirty="0">
                <a:solidFill>
                  <a:srgbClr val="F59E0B"/>
                </a:solidFill>
              </a:rPr>
              <a:t>• Backup Google Drive: </a:t>
            </a:r>
            <a:r>
              <a:rPr lang="en-US" sz="1200" dirty="0">
                <a:solidFill>
                  <a:srgbClr val="CBD5E1"/>
                </a:solidFill>
              </a:rPr>
              <a:t>Integração direta com o Drive: cada O.S. finalizada salva arquivos em PDF e dados JSON na nuvem.
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852160" y="1554480"/>
            <a:ext cx="5852160" cy="3474720"/>
          </a:xfrm>
          <a:prstGeom prst="rect">
            <a:avLst/>
          </a:prstGeom>
          <a:solidFill>
            <a:srgbClr val="141A28"/>
          </a:solidFill>
          <a:ln w="12700">
            <a:solidFill>
              <a:srgbClr val="1E293B"/>
            </a:solidFill>
            <a:prstDash val="solid"/>
          </a:ln>
        </p:spPr>
      </p:sp>
      <p:pic>
        <p:nvPicPr>
          <p:cNvPr id="7" name="Image 0" descr="C:\Users\Guilherme Gomes\.gemini\antigravity\brain\392f0286-5b76-4ec8-ac1d-7de16ea0eefa\media__17803222403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645920"/>
            <a:ext cx="5669280" cy="3291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6126480"/>
            <a:ext cx="11274552" cy="1828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6217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Portal GCAC — Solução para Atiradores, Colecionadores, Caçadores e Despachantes</a:t>
            </a:r>
            <a:endParaRPr lang="en-US" sz="900" dirty="0"/>
          </a:p>
        </p:txBody>
      </p:sp>
      <p:sp>
        <p:nvSpPr>
          <p:cNvPr id="10" name="Shape 2">
            <a:extLst>
              <a:ext uri="{FF2B5EF4-FFF2-40B4-BE49-F238E27FC236}">
                <a16:creationId xmlns:a16="http://schemas.microsoft.com/office/drawing/2014/main" id="{4BB4A7B2-335F-45A4-A937-56E1F95DCF20}"/>
              </a:ext>
            </a:extLst>
          </p:cNvPr>
          <p:cNvSpPr/>
          <p:nvPr/>
        </p:nvSpPr>
        <p:spPr>
          <a:xfrm>
            <a:off x="457200" y="1097280"/>
            <a:ext cx="8563356" cy="685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</a:rPr>
              <a:t>ESTRUTURA COMERCIAL DE CONTRATAÇÃO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8FAFC"/>
                </a:solidFill>
              </a:rPr>
              <a:t>Planos e Licenciamento (Calibres)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3383280" cy="4389120"/>
          </a:xfrm>
          <a:prstGeom prst="rect">
            <a:avLst/>
          </a:prstGeom>
          <a:solidFill>
            <a:srgbClr val="141A28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8FAFC"/>
                </a:solidFill>
              </a:rPr>
              <a:t>Plano .22LR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1920240"/>
            <a:ext cx="3017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94A3B8"/>
                </a:solidFill>
              </a:rPr>
              <a:t>ESSENCIAL INDIVIDUAL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9E0B"/>
                </a:solidFill>
              </a:rPr>
              <a:t>R$ 149 /mês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" y="2926080"/>
            <a:ext cx="30175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59E0B"/>
                </a:solidFill>
              </a:rPr>
              <a:t>• Staff: </a:t>
            </a:r>
            <a:r>
              <a:rPr lang="en-US" sz="1050" dirty="0">
                <a:solidFill>
                  <a:srgbClr val="CBD5E1"/>
                </a:solidFill>
              </a:rPr>
              <a:t>Apenas 1 usuário de staff (operador principal).
</a:t>
            </a:r>
            <a:r>
              <a:rPr lang="en-US" sz="1100" b="1" dirty="0">
                <a:solidFill>
                  <a:srgbClr val="F59E0B"/>
                </a:solidFill>
              </a:rPr>
              <a:t>• O.S. &amp; Recibos: </a:t>
            </a:r>
            <a:r>
              <a:rPr lang="en-US" sz="1050" dirty="0">
                <a:solidFill>
                  <a:srgbClr val="CBD5E1"/>
                </a:solidFill>
              </a:rPr>
              <a:t>Emissão de Ordens de Serviço, recibos, orçamentos e backups no Drive.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98264" y="1463040"/>
            <a:ext cx="3383280" cy="4389120"/>
          </a:xfrm>
          <a:prstGeom prst="rect">
            <a:avLst/>
          </a:prstGeom>
          <a:solidFill>
            <a:srgbClr val="182236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98264" y="1463040"/>
            <a:ext cx="3383280" cy="2286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4398264" y="1481328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8FAFC"/>
                </a:solidFill>
              </a:rPr>
              <a:t>RECOMENDADO / MAIS VENDIDO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581144" y="17830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8FAFC"/>
                </a:solidFill>
              </a:rPr>
              <a:t>Plano .357mag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81144" y="2057400"/>
            <a:ext cx="3017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94A3B8"/>
                </a:solidFill>
              </a:rPr>
              <a:t>PROFISSIONAL E CRESCIMENTO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581144" y="24231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9E0B"/>
                </a:solidFill>
              </a:rPr>
              <a:t>R$ 299 /mês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581144" y="3063240"/>
            <a:ext cx="30175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59E0B"/>
                </a:solidFill>
              </a:rPr>
              <a:t>• Staff: </a:t>
            </a:r>
            <a:r>
              <a:rPr lang="en-US" sz="1050" dirty="0">
                <a:solidFill>
                  <a:srgbClr val="CBD5E1"/>
                </a:solidFill>
              </a:rPr>
              <a:t>Até 4 usuários de staff.
</a:t>
            </a:r>
            <a:r>
              <a:rPr lang="en-US" sz="1100" b="1" dirty="0">
                <a:solidFill>
                  <a:srgbClr val="F59E0B"/>
                </a:solidFill>
              </a:rPr>
              <a:t>• Clientes: </a:t>
            </a:r>
            <a:r>
              <a:rPr lang="en-US" sz="1050" dirty="0">
                <a:solidFill>
                  <a:srgbClr val="CBD5E1"/>
                </a:solidFill>
              </a:rPr>
              <a:t>Até 20 clientes CAC vinculados diretamente.
</a:t>
            </a:r>
            <a:r>
              <a:rPr lang="en-US" sz="1100" b="1" dirty="0">
                <a:solidFill>
                  <a:srgbClr val="F59E0B"/>
                </a:solidFill>
              </a:rPr>
              <a:t>• Agenda: </a:t>
            </a:r>
            <a:r>
              <a:rPr lang="en-US" sz="1050" dirty="0">
                <a:solidFill>
                  <a:srgbClr val="CBD5E1"/>
                </a:solidFill>
              </a:rPr>
              <a:t>Controle de agendamentos e lembretes com suporte VIP prioritário.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348472" y="1463040"/>
            <a:ext cx="3383280" cy="4389120"/>
          </a:xfrm>
          <a:prstGeom prst="rect">
            <a:avLst/>
          </a:prstGeom>
          <a:solidFill>
            <a:srgbClr val="141A28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31352" y="16459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8FAFC"/>
                </a:solidFill>
              </a:rPr>
              <a:t>Plano .308win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531352" y="1920240"/>
            <a:ext cx="3017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94A3B8"/>
                </a:solidFill>
              </a:rPr>
              <a:t>CORPORATIVO E ILIMITADO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8531352" y="22860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9E0B"/>
                </a:solidFill>
              </a:rPr>
              <a:t>R$ 599 /mês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531352" y="2926080"/>
            <a:ext cx="30175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59E0B"/>
                </a:solidFill>
              </a:rPr>
              <a:t>• Ilimitado: </a:t>
            </a:r>
            <a:r>
              <a:rPr lang="en-US" sz="1050" dirty="0">
                <a:solidFill>
                  <a:srgbClr val="CBD5E1"/>
                </a:solidFill>
              </a:rPr>
              <a:t>Staff e vínculos de clientes ilimitados na plataforma.
</a:t>
            </a:r>
            <a:r>
              <a:rPr lang="en-US" sz="1100" b="1" dirty="0">
                <a:solidFill>
                  <a:srgbClr val="F59E0B"/>
                </a:solidFill>
              </a:rPr>
              <a:t>• White Label: </a:t>
            </a:r>
            <a:r>
              <a:rPr lang="en-US" sz="1050" dirty="0">
                <a:solidFill>
                  <a:srgbClr val="CBD5E1"/>
                </a:solidFill>
              </a:rPr>
              <a:t>Logotipo da própria empresa no portal e suporte premium dedicado.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6126480"/>
            <a:ext cx="11274552" cy="1828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6217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Portal GCAC — Solução para Atiradores, Colecionadores, Caçadores e Despachantes</a:t>
            </a:r>
            <a:endParaRPr lang="en-US" sz="900" dirty="0"/>
          </a:p>
        </p:txBody>
      </p:sp>
      <p:sp>
        <p:nvSpPr>
          <p:cNvPr id="24" name="Shape 2">
            <a:extLst>
              <a:ext uri="{FF2B5EF4-FFF2-40B4-BE49-F238E27FC236}">
                <a16:creationId xmlns:a16="http://schemas.microsoft.com/office/drawing/2014/main" id="{F354CBDB-2FE4-43A9-9590-891E115A5C04}"/>
              </a:ext>
            </a:extLst>
          </p:cNvPr>
          <p:cNvSpPr/>
          <p:nvPr/>
        </p:nvSpPr>
        <p:spPr>
          <a:xfrm>
            <a:off x="457200" y="1097280"/>
            <a:ext cx="8563356" cy="685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631</Words>
  <Application>Microsoft Office PowerPoint</Application>
  <PresentationFormat>Apresentação na tela (16:9)</PresentationFormat>
  <Paragraphs>81</Paragraphs>
  <Slides>13</Slides>
  <Notes>13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Guilherme Gomes</cp:lastModifiedBy>
  <cp:revision>3</cp:revision>
  <dcterms:created xsi:type="dcterms:W3CDTF">2026-06-01T18:40:25Z</dcterms:created>
  <dcterms:modified xsi:type="dcterms:W3CDTF">2026-06-01T18:52:48Z</dcterms:modified>
</cp:coreProperties>
</file>